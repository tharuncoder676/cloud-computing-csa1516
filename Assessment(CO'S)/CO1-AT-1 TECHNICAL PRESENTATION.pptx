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9"/>
  </p:notesMasterIdLst>
  <p:sldIdLst>
    <p:sldId id="264" r:id="rId6"/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365" cy="6858000" type="screen4x3"/>
  <p:notesSz cx="6858000" cy="9144000"/>
  <p:embeddedFontLst>
    <p:embeddedFont>
      <p:font typeface="Manrope ExtraBold" charset="0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~35 seconds: Define DevOps and briefly explain CALMS.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~65 seconds: Walk through the five boxes; distinguish delivery from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~70 seconds: Describe GitHub Actions workflow; explain deployment is separately configured.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~50 seconds: Compare blue-green and canary with simple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~45 seconds: Explain security, Docker, Kubernetes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~35 seconds: Mention trends and finish with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1.png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image" Target="../media/image1.png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image" Target="../media/image1.png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521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32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3547" y="4379976"/>
            <a:ext cx="1609260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7969" y="3617849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612" y="1862454"/>
            <a:ext cx="9467357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612" y="4790127"/>
            <a:ext cx="749197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509" y="1005840"/>
            <a:ext cx="4343174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379" y="0"/>
            <a:ext cx="3977433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8805" y="2637205"/>
            <a:ext cx="287985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110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3587" y="1463040"/>
            <a:ext cx="877778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024" y="301752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585" y="1621790"/>
            <a:ext cx="5463890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459" y="665438"/>
            <a:ext cx="4402679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764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2871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364400"/>
            <a:ext cx="51575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764" y="2061275"/>
            <a:ext cx="51575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283" y="1364400"/>
            <a:ext cx="51829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283" y="2061275"/>
            <a:ext cx="51829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156" y="360000"/>
            <a:ext cx="1051505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296000"/>
            <a:ext cx="1079943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369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6695" y="1152144"/>
            <a:ext cx="1298380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173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080" y="3429000"/>
            <a:ext cx="530324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404" y="555752"/>
            <a:ext cx="10095974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404" y="4217290"/>
            <a:ext cx="10095974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6350"/>
            <a:ext cx="12191365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8768" y="3597564"/>
            <a:ext cx="416563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4927" y="3636576"/>
            <a:ext cx="2475295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156" y="1252855"/>
            <a:ext cx="10515052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904828" y="180975"/>
            <a:ext cx="10515052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91494" y="4946650"/>
            <a:ext cx="5776294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420987" y="4299150"/>
            <a:ext cx="5193363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838154" y="4335150"/>
            <a:ext cx="431978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4690501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6350"/>
            <a:ext cx="12191365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843451" y="3946656"/>
            <a:ext cx="371240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4481" y="3981423"/>
            <a:ext cx="2205971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977078" y="580746"/>
            <a:ext cx="371240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5971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5964" y="3274695"/>
            <a:ext cx="10799438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3921" y="307340"/>
            <a:ext cx="9143524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24" y="360045"/>
            <a:ext cx="10800152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24" y="360045"/>
            <a:ext cx="10798248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6350"/>
            <a:ext cx="12191365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8768" y="3597564"/>
            <a:ext cx="416563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4927" y="3636576"/>
            <a:ext cx="2475295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791" y="212725"/>
            <a:ext cx="10514417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92129" y="5288280"/>
            <a:ext cx="7314819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443915" y="3674110"/>
            <a:ext cx="9909929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838789" y="3603245"/>
            <a:ext cx="431978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521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32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3547" y="4379976"/>
            <a:ext cx="1609260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7969" y="3617849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612" y="1862454"/>
            <a:ext cx="9467357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612" y="4790127"/>
            <a:ext cx="749197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509" y="1005840"/>
            <a:ext cx="4343174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379" y="0"/>
            <a:ext cx="3977433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8805" y="2637205"/>
            <a:ext cx="287985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110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3587" y="1463040"/>
            <a:ext cx="877778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024" y="301752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585" y="1621790"/>
            <a:ext cx="5463890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459" y="665438"/>
            <a:ext cx="4402679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764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2871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364400"/>
            <a:ext cx="51575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764" y="2061275"/>
            <a:ext cx="51575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283" y="1364400"/>
            <a:ext cx="51829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283" y="2061275"/>
            <a:ext cx="51829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156" y="360000"/>
            <a:ext cx="1051505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296000"/>
            <a:ext cx="1079943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369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6695" y="1152144"/>
            <a:ext cx="1298380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173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080" y="3429000"/>
            <a:ext cx="530324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404" y="555752"/>
            <a:ext cx="10095974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404" y="4217290"/>
            <a:ext cx="10095974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9" Type="http://schemas.openxmlformats.org/officeDocument/2006/relationships/theme" Target="../theme/theme3.xml"/><Relationship Id="rId18" Type="http://schemas.openxmlformats.org/officeDocument/2006/relationships/tags" Target="../tags/tag152.xml"/><Relationship Id="rId17" Type="http://schemas.openxmlformats.org/officeDocument/2006/relationships/tags" Target="../tags/tag151.xml"/><Relationship Id="rId16" Type="http://schemas.openxmlformats.org/officeDocument/2006/relationships/tags" Target="../tags/tag150.xml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image" Target="../media/image2.png"/><Relationship Id="rId12" Type="http://schemas.openxmlformats.org/officeDocument/2006/relationships/tags" Target="../tags/tag147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tags" Target="../tags/tag222.xml"/><Relationship Id="rId13" Type="http://schemas.openxmlformats.org/officeDocument/2006/relationships/tags" Target="../tags/tag221.xml"/><Relationship Id="rId12" Type="http://schemas.openxmlformats.org/officeDocument/2006/relationships/tags" Target="../tags/tag220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6765" y="0"/>
            <a:ext cx="1691552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09" y="5687568"/>
            <a:ext cx="2715627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64" y="1364400"/>
            <a:ext cx="10799438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6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14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6765" y="0"/>
            <a:ext cx="1691552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09" y="5687568"/>
            <a:ext cx="2715627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64" y="1364400"/>
            <a:ext cx="10799438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6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14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22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35.xml"/><Relationship Id="rId17" Type="http://schemas.openxmlformats.org/officeDocument/2006/relationships/tags" Target="../tags/tag252.xml"/><Relationship Id="rId16" Type="http://schemas.openxmlformats.org/officeDocument/2006/relationships/tags" Target="../tags/tag251.xml"/><Relationship Id="rId15" Type="http://schemas.openxmlformats.org/officeDocument/2006/relationships/tags" Target="../tags/tag250.xml"/><Relationship Id="rId14" Type="http://schemas.openxmlformats.org/officeDocument/2006/relationships/tags" Target="../tags/tag249.xml"/><Relationship Id="rId13" Type="http://schemas.openxmlformats.org/officeDocument/2006/relationships/tags" Target="../tags/tag248.xml"/><Relationship Id="rId12" Type="http://schemas.openxmlformats.org/officeDocument/2006/relationships/tags" Target="../tags/tag24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tags" Target="../tags/tag23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tags" Target="../tags/tag259.xml"/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40.xml"/><Relationship Id="rId13" Type="http://schemas.openxmlformats.org/officeDocument/2006/relationships/tags" Target="../tags/tag265.xml"/><Relationship Id="rId12" Type="http://schemas.openxmlformats.org/officeDocument/2006/relationships/tags" Target="../tags/tag264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tags" Target="../tags/tag25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26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27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28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0261012_101214AMByGPSMapCamer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735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99565" y="270510"/>
            <a:ext cx="8628380" cy="9677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66140" y="1891665"/>
            <a:ext cx="9658350" cy="3319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altLang="en-US" sz="2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2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 and CI/CD in Cloud Computing</a:t>
            </a:r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CN" sz="280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+mn-ea"/>
              </a:rPr>
              <a:t>CSA1</a:t>
            </a:r>
            <a:r>
              <a:rPr lang="en-IN" altLang="en-US" sz="280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+mn-ea"/>
              </a:rPr>
              <a:t>516 -CLOUD COMPUTING AND BIG            DATA ANALYTICS </a:t>
            </a:r>
            <a:endParaRPr lang="en-US" altLang="en-US" sz="2800" b="0" i="0">
              <a:solidFill>
                <a:schemeClr val="tx1"/>
              </a:solidFill>
              <a:latin typeface="Times New Roman" panose="02020603050405020304" pitchFamily="18" charset="0"/>
              <a:ea typeface="Google Sans"/>
              <a:cs typeface="Times New Roman" panose="02020603050405020304" pitchFamily="18" charset="0"/>
            </a:endParaRPr>
          </a:p>
          <a:p>
            <a:endParaRPr lang="en-IN" altLang="en-US" sz="28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18500" y="4402455"/>
            <a:ext cx="3748405" cy="1946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ed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by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/>
              <a:t>Tharunkumar.S[CSE department,2nd year[192511416]</a:t>
            </a:r>
            <a:endParaRPr lang="en-I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29920" y="4491990"/>
            <a:ext cx="2859405" cy="1038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Guided by: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IN" altLang="en-US" dirty="0"/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Boomija .MD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1064240" y="6446520"/>
            <a:ext cx="5029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822960" y="1508760"/>
            <a:ext cx="10424160" cy="4603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Connects development and IT operations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822960" y="2313432"/>
            <a:ext cx="10424160" cy="4603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Automates repetitive software delivery tasks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22960" y="3118104"/>
            <a:ext cx="10424160" cy="46037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spcAft>
                <a:spcPts val="700"/>
              </a:spcAft>
              <a:defRPr sz="24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</a:t>
            </a:r>
            <a:r>
              <a:rPr sz="222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2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 of Devops:Improved collaboration ,</a:t>
            </a:r>
            <a:r>
              <a:rPr sz="222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speed, </a:t>
            </a:r>
            <a:r>
              <a:rPr lang="en-IN" sz="222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</a:t>
            </a:r>
            <a:r>
              <a:rPr sz="222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reliability</a:t>
            </a:r>
            <a:endParaRPr sz="222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22960" y="3922776"/>
            <a:ext cx="10424160" cy="4603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CALMS: Culture • Automation • Lean • Measurement • Sharing</a:t>
            </a:r>
            <a:r>
              <a:rPr lang="en-IN">
                <a:solidFill>
                  <a:schemeClr val="tx1"/>
                </a:solidFill>
                <a:latin typeface="+mn-lt"/>
              </a:rPr>
              <a:t>  </a:t>
            </a:r>
            <a:endParaRPr lang="en-IN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914400" y="5623560"/>
            <a:ext cx="10058400" cy="414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Key idea: DevOps is a culture, not a single tool.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wrap="square" lIns="0" tIns="0" rIns="0" bIns="0" rtlCol="0" anchor="b">
            <a:normAutofit fontScale="90000"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br>
              <a:rPr lang="en-US" dirty="0">
                <a:sym typeface="+mn-ea"/>
              </a:rPr>
            </a:b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DevOps: Why It Matters</a:t>
            </a:r>
            <a:endParaRPr lang="en-US" dirty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Content Placeholder 3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68" y="1490400"/>
            <a:ext cx="10968629" cy="396240"/>
          </a:xfrm>
        </p:spPr>
        <p:txBody>
          <a:bodyPr/>
          <a:p>
            <a:pPr marL="0" indent="0">
              <a:buNone/>
            </a:pPr>
            <a:r>
              <a:rPr lang="en-US"/>
              <a:t>单击此处编辑母版文本样式</a:t>
            </a:r>
            <a:endParaRPr lang="en-US"/>
          </a:p>
          <a:p>
            <a:pPr marL="0" indent="0">
              <a:buNone/>
            </a:pPr>
            <a:r>
              <a:rPr lang="en-US"/>
              <a:t>二级</a:t>
            </a:r>
            <a:endParaRPr lang="en-US"/>
          </a:p>
          <a:p>
            <a:pPr marL="0" indent="0">
              <a:buNone/>
            </a:pPr>
            <a:r>
              <a:rPr lang="en-US"/>
              <a:t>三级</a:t>
            </a:r>
            <a:endParaRPr lang="en-US"/>
          </a:p>
          <a:p>
            <a:pPr marL="0" indent="0">
              <a:buNone/>
            </a:pPr>
            <a:r>
              <a:rPr lang="en-US"/>
              <a:t>四级</a:t>
            </a:r>
            <a:endParaRPr lang="en-US"/>
          </a:p>
          <a:p>
            <a:pPr marL="0" indent="0">
              <a:buNone/>
            </a:pPr>
            <a:r>
              <a:rPr lang="en-US"/>
              <a:t>五级</a:t>
            </a:r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11064240" y="6446520"/>
            <a:ext cx="5029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594360" y="1828800"/>
            <a:ext cx="1993392" cy="11612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CODE</a:t>
            </a:r>
            <a:endParaRPr>
              <a:solidFill>
                <a:schemeClr val="tx1"/>
              </a:solidFill>
            </a:endParaRP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>
                <a:solidFill>
                  <a:schemeClr val="tx1"/>
                </a:solidFill>
              </a:rPr>
              <a:t>Git push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596896" y="2194560"/>
            <a:ext cx="33832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→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2935224" y="1828800"/>
            <a:ext cx="1993392" cy="11612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BUILD</a:t>
            </a:r>
            <a:endParaRPr>
              <a:solidFill>
                <a:schemeClr val="tx1"/>
              </a:solidFill>
            </a:endParaRP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>
                <a:solidFill>
                  <a:schemeClr val="tx1"/>
                </a:solidFill>
              </a:rPr>
              <a:t>Compile / package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4937760" y="2194560"/>
            <a:ext cx="33832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→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>
            <p:custDataLst>
              <p:tags r:id="rId7"/>
            </p:custDataLst>
          </p:nvPr>
        </p:nvSpPr>
        <p:spPr>
          <a:xfrm>
            <a:off x="5276088" y="1828800"/>
            <a:ext cx="1993392" cy="11612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TEST</a:t>
            </a:r>
            <a:endParaRPr>
              <a:solidFill>
                <a:schemeClr val="tx1"/>
              </a:solidFill>
            </a:endParaRP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>
                <a:solidFill>
                  <a:schemeClr val="tx1"/>
                </a:solidFill>
              </a:rPr>
              <a:t>Automated checks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7278624" y="2194560"/>
            <a:ext cx="33832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→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ounded Rectangle 10"/>
          <p:cNvSpPr/>
          <p:nvPr>
            <p:custDataLst>
              <p:tags r:id="rId9"/>
            </p:custDataLst>
          </p:nvPr>
        </p:nvSpPr>
        <p:spPr>
          <a:xfrm>
            <a:off x="7616952" y="1828800"/>
            <a:ext cx="1993392" cy="11612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DEPLOY</a:t>
            </a:r>
            <a:endParaRPr>
              <a:solidFill>
                <a:schemeClr val="tx1"/>
              </a:solidFill>
            </a:endParaRP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>
                <a:solidFill>
                  <a:schemeClr val="tx1"/>
                </a:solidFill>
              </a:rPr>
              <a:t>Cloud release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9619488" y="2194560"/>
            <a:ext cx="33832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→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Rounded Rectangle 12"/>
          <p:cNvSpPr/>
          <p:nvPr>
            <p:custDataLst>
              <p:tags r:id="rId11"/>
            </p:custDataLst>
          </p:nvPr>
        </p:nvSpPr>
        <p:spPr>
          <a:xfrm>
            <a:off x="9957816" y="1828800"/>
            <a:ext cx="1993392" cy="11612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MONITOR</a:t>
            </a:r>
            <a:endParaRPr>
              <a:solidFill>
                <a:schemeClr val="tx1"/>
              </a:solidFill>
            </a:endParaRP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>
                <a:solidFill>
                  <a:schemeClr val="tx1"/>
                </a:solidFill>
              </a:rPr>
              <a:t>Logs &amp; metrics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914400" y="3703320"/>
            <a:ext cx="10424160" cy="3987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CI: Integrate code, build it, and test automatically</a:t>
            </a:r>
            <a:r>
              <a:rPr lang="en-IN">
                <a:solidFill>
                  <a:schemeClr val="tx1"/>
                </a:solidFill>
                <a:latin typeface="+mn-lt"/>
              </a:rPr>
              <a:t> </a:t>
            </a:r>
            <a:endParaRPr lang="en-IN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3"/>
            </p:custDataLst>
          </p:nvPr>
        </p:nvSpPr>
        <p:spPr>
          <a:xfrm>
            <a:off x="914400" y="4242816"/>
            <a:ext cx="10424160" cy="3987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Continuous Delivery: Keep changes ready for release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4"/>
            </p:custDataLst>
          </p:nvPr>
        </p:nvSpPr>
        <p:spPr>
          <a:xfrm>
            <a:off x="914400" y="4782312"/>
            <a:ext cx="10424160" cy="3987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Continuous Deployment: Release passing changes automatically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>
            <p:custDataLst>
              <p:tags r:id="rId15"/>
            </p:custDataLst>
          </p:nvPr>
        </p:nvSpPr>
        <p:spPr>
          <a:xfrm>
            <a:off x="914400" y="5321808"/>
            <a:ext cx="10424160" cy="3987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Failed checks stop the pipeline before release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Title 29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CI/CD Architecture</a:t>
            </a:r>
            <a:endParaRPr lang="en-US" dirty="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1064240" y="6446520"/>
            <a:ext cx="5029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4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822960" y="1463040"/>
            <a:ext cx="1060704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Example: A developer updates a React website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822960" y="2157984"/>
            <a:ext cx="1060704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A Git push triggers a workflow stored in .github/workflows/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22960" y="2852928"/>
            <a:ext cx="1060704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Checkout → Install dependencies → Test → Build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22960" y="3547872"/>
            <a:ext cx="1060704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A separate deployment step publishes to cloud hosting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22960" y="4242816"/>
            <a:ext cx="1060704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Failures are reported before deployment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1920240" y="5285232"/>
            <a:ext cx="219456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GitHub Push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4343400" y="5468112"/>
            <a:ext cx="548640" cy="4756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→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4846320" y="5285232"/>
            <a:ext cx="219456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Actions CI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7260336" y="5468112"/>
            <a:ext cx="548640" cy="4756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→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7772400" y="5285232"/>
            <a:ext cx="23774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tx1"/>
                </a:solidFill>
              </a:rPr>
              <a:t>Cloud Deploy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" name="Title 18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GitHub Actions: A Real Example</a:t>
            </a:r>
            <a:endParaRPr lang="en-US" dirty="0"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1064240" y="6446520"/>
            <a:ext cx="5029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914400" y="1874519"/>
            <a:ext cx="4389120" cy="1920240"/>
          </a:xfrm>
          <a:prstGeom prst="roundRect">
            <a:avLst/>
          </a:prstGeom>
          <a:solidFill>
            <a:schemeClr val="accent1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lt1"/>
                </a:solidFill>
              </a:rPr>
              <a:t>BLUE–GREEN</a:t>
            </a:r>
            <a:endParaRPr>
              <a:solidFill>
                <a:schemeClr val="lt1"/>
              </a:solidFill>
            </a:endParaRP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>
                <a:solidFill>
                  <a:schemeClr val="lt1"/>
                </a:solidFill>
              </a:rPr>
              <a:t>Old version runs while new version is tested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6903720" y="1874519"/>
            <a:ext cx="4389120" cy="1920240"/>
          </a:xfrm>
          <a:prstGeom prst="roundRect">
            <a:avLst/>
          </a:prstGeom>
          <a:solidFill>
            <a:schemeClr val="accent1"/>
          </a:solidFill>
          <a:ln w="1778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141414"/>
                </a:solidFill>
              </a:defRPr>
            </a:pPr>
            <a:r>
              <a:rPr>
                <a:solidFill>
                  <a:schemeClr val="lt1"/>
                </a:solidFill>
              </a:rPr>
              <a:t>CANARY</a:t>
            </a:r>
            <a:endParaRPr>
              <a:solidFill>
                <a:schemeClr val="lt1"/>
              </a:solidFill>
            </a:endParaRP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>
                <a:solidFill>
                  <a:schemeClr val="lt1"/>
                </a:solidFill>
              </a:rPr>
              <a:t>New version first reaches a small user group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914400" y="4389120"/>
            <a:ext cx="10424160" cy="414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Blue-Green: Switch traffic after verifying the new version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914400" y="4992624"/>
            <a:ext cx="10424160" cy="414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Canary: Increase rollout gradually if performance is healthy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914400" y="5596128"/>
            <a:ext cx="10424160" cy="414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Both reduce release risk and support quicker recovery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Safer Releases: Blue-Green &amp; Canary</a:t>
            </a:r>
            <a:endParaRPr lang="en-US" dirty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1064240" y="6446520"/>
            <a:ext cx="5029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822960" y="1508760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DevSecOps: Include security checks in the CI/CD pipeline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822960" y="2258568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Docker: Package applications and dependencies in containers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22960" y="3008376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Kubernetes: Manage container deployment and scaling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22960" y="3758183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Monitoring: Track errors, performance, logs, and alerts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22960" y="4507992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Goal: Secure, stable, and repeatable releases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DevSecOps &amp; Cloud Reliability</a:t>
            </a:r>
            <a:endParaRPr lang="en-US" dirty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1064240" y="6446520"/>
            <a:ext cx="5029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7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822960" y="1508760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GitOps: Manage deployment configuration through Git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822960" y="2313432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AI-assisted operations: Detect anomalies and investigate failures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22960" y="3118104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Platform engineering: Provide reusable deployment tools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22960" y="3922776"/>
            <a:ext cx="10424160" cy="42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•  CI/CD + cloud infrastructure enable frequent, reliable releases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914400" y="5349240"/>
            <a:ext cx="10515600" cy="414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1414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DevOps = Culture     |     CI/CD = Automation     |     Cloud = Infrastructure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Future of DevOps &amp; Conclusion</a:t>
            </a:r>
            <a:endParaRPr lang="en-US" dirty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IN" altLang="en-US"/>
              <a:t>                                        </a:t>
            </a: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732915" y="2274570"/>
            <a:ext cx="90506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                                          </a:t>
            </a:r>
            <a:endParaRPr lang="en-IN" altLang="en-US"/>
          </a:p>
          <a:p>
            <a:r>
              <a:rPr lang="en-IN" altLang="en-US" sz="7200"/>
              <a:t>        THANK YOU </a:t>
            </a:r>
            <a:endParaRPr lang="en-IN" altLang="en-US" sz="7200"/>
          </a:p>
        </p:txBody>
      </p:sp>
      <p:sp>
        <p:nvSpPr>
          <p:cNvPr id="4" name="Text Box 3"/>
          <p:cNvSpPr txBox="1"/>
          <p:nvPr/>
        </p:nvSpPr>
        <p:spPr>
          <a:xfrm>
            <a:off x="7057390" y="5662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14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22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228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2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3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3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3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3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SLIDE_TYPE" val="text"/>
  <p:tag name="KSO_WM_BEAUTIFY_FLAG" val="#wm#"/>
</p:tagLst>
</file>

<file path=ppt/tags/tag2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3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41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4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4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4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4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4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48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49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50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SLIDE_TYPE" val="text"/>
  <p:tag name="KSO_WM_BEAUTIFY_FLAG" val="#wm#"/>
</p:tagLst>
</file>

<file path=ppt/tags/tag253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5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55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56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57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58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5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6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6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6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64.xml><?xml version="1.0" encoding="utf-8"?>
<p:tagLst xmlns:p="http://schemas.openxmlformats.org/presentationml/2006/main">
  <p:tag name="KSO_WM_UNIT_TEXT" val="DevOps: Why It Matter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265.xml><?xml version="1.0" encoding="utf-8"?>
<p:tagLst xmlns:p="http://schemas.openxmlformats.org/presentationml/2006/main">
  <p:tag name="KSO_WM_SLIDE_TYPE" val="text"/>
  <p:tag name="KSO_WM_BEAUTIFY_FLAG" val="#wm#"/>
</p:tagLst>
</file>

<file path=ppt/tags/tag26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67.xml><?xml version="1.0" encoding="utf-8"?>
<p:tagLst xmlns:p="http://schemas.openxmlformats.org/presentationml/2006/main">
  <p:tag name="KSO_WM_UNIT_INDEX" val="1_1_2"/>
  <p:tag name="KSO_WM_UNIT_TYPE" val="l_h_f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UNIT_SUBTYPE" val="a"/>
</p:tagLst>
</file>

<file path=ppt/tags/tag268.xml><?xml version="1.0" encoding="utf-8"?>
<p:tagLst xmlns:p="http://schemas.openxmlformats.org/presentationml/2006/main">
  <p:tag name="KSO_WM_UNIT_INDEX" val="1_2_2"/>
  <p:tag name="KSO_WM_UNIT_TYPE" val="l_h_f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UNIT_SUBTYPE" val="a"/>
</p:tagLst>
</file>

<file path=ppt/tags/tag26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7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72.xml><?xml version="1.0" encoding="utf-8"?>
<p:tagLst xmlns:p="http://schemas.openxmlformats.org/presentationml/2006/main">
  <p:tag name="KSO_WM_UNIT_TEXT" val="GitHub Actions: A Real Exampl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273.xml><?xml version="1.0" encoding="utf-8"?>
<p:tagLst xmlns:p="http://schemas.openxmlformats.org/presentationml/2006/main">
  <p:tag name="KSO_WM_SLIDE_TYPE" val="text"/>
  <p:tag name="KSO_WM_BEAUTIFY_FLAG" val="#wm#"/>
</p:tagLst>
</file>

<file path=ppt/tags/tag27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7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7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7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80.xml><?xml version="1.0" encoding="utf-8"?>
<p:tagLst xmlns:p="http://schemas.openxmlformats.org/presentationml/2006/main">
  <p:tag name="KSO_WM_UNIT_TEXT" val="Safer Releases: Blue-Green &amp; Canar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281.xml><?xml version="1.0" encoding="utf-8"?>
<p:tagLst xmlns:p="http://schemas.openxmlformats.org/presentationml/2006/main">
  <p:tag name="KSO_WM_SLIDE_TYPE" val="text"/>
  <p:tag name="KSO_WM_BEAUTIFY_FLAG" val="#wm#"/>
</p:tagLst>
</file>

<file path=ppt/tags/tag28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83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84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285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286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287.xml><?xml version="1.0" encoding="utf-8"?>
<p:tagLst xmlns:p="http://schemas.openxmlformats.org/presentationml/2006/main">
  <p:tag name="KSO_WM_UNIT_INDEX" val="1_5_1"/>
  <p:tag name="KSO_WM_UNIT_TYPE" val="l_h_f"/>
  <p:tag name="KSO_WM_UNIT_SUBTYPE" val="a"/>
  <p:tag name="KSO_WM_TEMPLATE_CATEGORY" val="diagram"/>
  <p:tag name="KSO_WM_TEMPLATE_INDEX" val="19882022"/>
  <p:tag name="KSO_WM_UNIT_ID" val="diagram19882022*l_h_f*1_5_1"/>
  <p:tag name="KSO_WM_DIAGRAM_GROUP_CODE" val="l1-1"/>
  <p:tag name="KSO_WM_TAG_VERSION" val="2.0"/>
  <p:tag name="KSO_WM_BEAUTIFY_FLAG" val="#wm#"/>
</p:tagLst>
</file>

<file path=ppt/tags/tag288.xml><?xml version="1.0" encoding="utf-8"?>
<p:tagLst xmlns:p="http://schemas.openxmlformats.org/presentationml/2006/main">
  <p:tag name="KSO_WM_UNIT_TEXT" val="DevSecOps &amp; Cloud Reliabilit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289.xml><?xml version="1.0" encoding="utf-8"?>
<p:tagLst xmlns:p="http://schemas.openxmlformats.org/presentationml/2006/main">
  <p:tag name="KSO_WM_SLIDE_TYPE" val="text"/>
  <p:tag name="KSO_WM_BEAUTIFY_FLAG" val="#wm#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Ari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2327</Words>
  <Application>WPS Presentation</Application>
  <PresentationFormat>On-screen Show (4:3)</PresentationFormat>
  <Paragraphs>144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Arial</vt:lpstr>
      <vt:lpstr>Times New Roman</vt:lpstr>
      <vt:lpstr>Google Sans</vt:lpstr>
      <vt:lpstr>Liberation Mono</vt:lpstr>
      <vt:lpstr>Aptos</vt:lpstr>
      <vt:lpstr>Segoe UI</vt:lpstr>
      <vt:lpstr>Lato</vt:lpstr>
      <vt:lpstr>Microsoft YaHei</vt:lpstr>
      <vt:lpstr>Arial Unicode MS</vt:lpstr>
      <vt:lpstr>Manrope ExtraBold</vt:lpstr>
      <vt:lpstr>Calibri</vt:lpstr>
      <vt:lpstr>Office Theme</vt:lpstr>
      <vt:lpstr>1_Office Theme</vt:lpstr>
      <vt:lpstr>2_Office Theme</vt:lpstr>
      <vt:lpstr>3_Office Theme</vt:lpstr>
      <vt:lpstr>PowerPoint 演示文稿</vt:lpstr>
      <vt:lpstr>PowerPoint 演示文稿</vt:lpstr>
      <vt:lpstr>  DevOps: Why It Matters</vt:lpstr>
      <vt:lpstr>CI/CD Architecture</vt:lpstr>
      <vt:lpstr>GitHub Actions: A Real Example</vt:lpstr>
      <vt:lpstr>Safer Releases: Blue-Green &amp; Canary</vt:lpstr>
      <vt:lpstr>DevSecOps &amp; Cloud Reliability</vt:lpstr>
      <vt:lpstr>Future of DevOps &amp; Conclusion</vt:lpstr>
      <vt:lpstr>                           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Tharunkumar</cp:lastModifiedBy>
  <cp:revision>4</cp:revision>
  <dcterms:created xsi:type="dcterms:W3CDTF">2013-01-27T09:14:00Z</dcterms:created>
  <dcterms:modified xsi:type="dcterms:W3CDTF">2026-10-14T06:43:16Z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A5D3A0FBC3C848708F9B969026F45C90_13</vt:lpwstr>
  </property>
</Properties>
</file>